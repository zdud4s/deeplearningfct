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47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summarizing the uploaded notebook results and scope of the presentation.
[Sources]
- User-uploaded notebook: assignment1_v1.ipynb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claims and visuals come from the data-exploration cells in the uploaded notebook.
Counts: 3600 samples, 9 classes, Water 674 vs Ground 244, imbalance ratio 2.8x, image size 64x64.
[Sources]
- User-uploaded notebook: assignment1_v1.ipynb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Architecture, parameter count, augmentation, sampler, loss, and optimization choices are taken from the notebook code cells.
Important correction versus markdown text: the implemented model uses 96x96 inputs and a 27,648-dimensional flattened vector.
[Sources]
- User-uploaded notebook: assignment1_v1.ipynb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and plots come from the validation evaluation cells in the uploaded notebook.
Classification report values used here: accuracy 0.22, macro avg F1 0.21, strong classes Fire/Poison/Grass, weak classes Bug/Normal/Rock, Water precision 0.73 with recall 0.11.
[Sources]
- User-uploaded notebook: assignment1_v1.ipynb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EFE9E0"/>
          </a:solidFill>
          <a:ln w="12700">
            <a:solidFill>
              <a:srgbClr val="EFE9E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4" name="Image 0" descr="/mnt/data/notebook_assets/cell5_0.png"/>
          <p:cNvPicPr>
            <a:picLocks noChangeAspect="1"/>
          </p:cNvPicPr>
          <p:nvPr/>
        </p:nvPicPr>
        <p:blipFill>
          <a:blip r:embed="rId3"/>
          <a:srcRect t="4725" b="4725"/>
          <a:stretch/>
        </p:blipFill>
        <p:spPr>
          <a:xfrm>
            <a:off x="8458200" y="411480"/>
            <a:ext cx="3246120" cy="6035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5358384"/>
            <a:ext cx="2926080" cy="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713232" y="1170432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/>
            <a:r>
              <a:rPr lang="en-GB" sz="2400" b="1" dirty="0"/>
              <a:t>The </a:t>
            </a:r>
            <a:r>
              <a:rPr lang="en-GB" sz="2400" b="1" dirty="0" err="1"/>
              <a:t>Pokemon</a:t>
            </a:r>
            <a:r>
              <a:rPr lang="en-GB" sz="2400" b="1" dirty="0"/>
              <a:t> are out there! 2026 Task 1</a:t>
            </a:r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  <a:latin typeface="Aptos" pitchFamily="34" charset="0"/>
              </a:rPr>
              <a:t>Duarte Ferreira 75419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  <a:latin typeface="Aptos" pitchFamily="34" charset="0"/>
              </a:rPr>
              <a:t>Tiago Figueiredo 73187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5532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3,600 train images  •  9 classes  •  Best validation macro-F1: 0.2132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749808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7"/>
          <p:cNvSpPr/>
          <p:nvPr/>
        </p:nvSpPr>
        <p:spPr>
          <a:xfrm>
            <a:off x="804672" y="80010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summary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749808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9"/>
          <p:cNvSpPr/>
          <p:nvPr/>
        </p:nvSpPr>
        <p:spPr>
          <a:xfrm>
            <a:off x="2130552" y="8001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baseline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27832" y="749808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3300984" y="80010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focus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6126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1 review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24712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Data exploration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0" y="283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macro-F1 matters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0352" y="914400"/>
            <a:ext cx="6537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is manageable but not balanced, so class-sensitive evaluation is more informative than accuracy alone.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3712" y="1532903"/>
            <a:ext cx="5440680" cy="1539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3,600 labeled training images spread across 9 Pokémon types.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image is 64×64, which limits fine-grained texture and shape detail.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frequencies vary from 244 (Ground) to 674 (Water): a 2.8× imbalance.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12064" y="3200400"/>
            <a:ext cx="6400800" cy="3035807"/>
          </a:xfrm>
          <a:prstGeom prst="roundRect">
            <a:avLst>
              <a:gd name="adj" fmla="val 1374"/>
            </a:avLst>
          </a:prstGeom>
          <a:solidFill>
            <a:srgbClr val="FFFDFC"/>
          </a:solidFill>
          <a:ln w="12700">
            <a:solidFill>
              <a:srgbClr val="D8D2C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9" name="Image 0" descr="/mnt/data/notebook_assets/cell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755618"/>
            <a:ext cx="6089904" cy="197264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81742" y="841249"/>
            <a:ext cx="3313234" cy="4308031"/>
          </a:xfrm>
          <a:prstGeom prst="roundRect">
            <a:avLst>
              <a:gd name="adj" fmla="val 1096"/>
            </a:avLst>
          </a:prstGeom>
          <a:solidFill>
            <a:srgbClr val="FFFDFC"/>
          </a:solidFill>
          <a:ln w="12700">
            <a:solidFill>
              <a:srgbClr val="D8D2C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11" name="Image 1" descr="/mnt/data/notebook_assets/cell5_0.png"/>
          <p:cNvPicPr>
            <a:picLocks noChangeAspect="1"/>
          </p:cNvPicPr>
          <p:nvPr/>
        </p:nvPicPr>
        <p:blipFill>
          <a:blip r:embed="rId4"/>
          <a:srcRect t="18181" b="18181"/>
          <a:stretch/>
        </p:blipFill>
        <p:spPr>
          <a:xfrm>
            <a:off x="8237190" y="1016473"/>
            <a:ext cx="3028907" cy="39575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81742" y="5171773"/>
            <a:ext cx="3598194" cy="1487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sprites show why some classes are easier: Fire/Water are visually distinctive, while Rock/Ground/Fighting often share earthy colors and similar silhouettes.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24712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Model architecture and rationale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0" y="283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baseline, heavy regularization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00200" y="2688336"/>
            <a:ext cx="201168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2926080" y="2688336"/>
            <a:ext cx="27432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4297680" y="2688336"/>
            <a:ext cx="292608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5687568" y="2688336"/>
            <a:ext cx="292608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7077456" y="2688336"/>
            <a:ext cx="292608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8467344" y="2688336"/>
            <a:ext cx="603504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87B7595-1ABC-EB16-C951-B3E624EDBC7D}"/>
              </a:ext>
            </a:extLst>
          </p:cNvPr>
          <p:cNvGrpSpPr/>
          <p:nvPr/>
        </p:nvGrpSpPr>
        <p:grpSpPr>
          <a:xfrm>
            <a:off x="1089660" y="1385316"/>
            <a:ext cx="10012680" cy="2487168"/>
            <a:chOff x="566928" y="1499616"/>
            <a:chExt cx="10012680" cy="2487168"/>
          </a:xfrm>
        </p:grpSpPr>
        <p:sp>
          <p:nvSpPr>
            <p:cNvPr id="12" name="Shape 10"/>
            <p:cNvSpPr/>
            <p:nvPr/>
          </p:nvSpPr>
          <p:spPr>
            <a:xfrm>
              <a:off x="566928" y="1499616"/>
              <a:ext cx="10012680" cy="2487168"/>
            </a:xfrm>
            <a:prstGeom prst="roundRect">
              <a:avLst>
                <a:gd name="adj" fmla="val 1838"/>
              </a:avLst>
            </a:prstGeom>
            <a:solidFill>
              <a:srgbClr val="FFFDFC"/>
            </a:solidFill>
            <a:ln w="12700">
              <a:solidFill>
                <a:srgbClr val="D8D2C8"/>
              </a:solidFill>
              <a:prstDash val="solid"/>
            </a:ln>
            <a:effectLst>
              <a:outerShdw blurRad="19050" dist="889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Shape 11"/>
            <p:cNvSpPr/>
            <p:nvPr/>
          </p:nvSpPr>
          <p:spPr>
            <a:xfrm>
              <a:off x="685800" y="2331720"/>
              <a:ext cx="914400" cy="713232"/>
            </a:xfrm>
            <a:prstGeom prst="roundRect">
              <a:avLst>
                <a:gd name="adj" fmla="val 7692"/>
              </a:avLst>
            </a:prstGeom>
            <a:solidFill>
              <a:srgbClr val="EAF2FF"/>
            </a:solidFill>
            <a:ln w="12700">
              <a:solidFill>
                <a:srgbClr val="D6D6D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Text 12"/>
            <p:cNvSpPr/>
            <p:nvPr/>
          </p:nvSpPr>
          <p:spPr>
            <a:xfrm>
              <a:off x="713232" y="2441448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Input</a:t>
              </a:r>
              <a:endParaRPr lang="en-US" sz="1550" dirty="0"/>
            </a:p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96×96×3</a:t>
              </a:r>
              <a:endParaRPr lang="en-US" sz="15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874520" y="2331720"/>
              <a:ext cx="1051560" cy="713232"/>
            </a:xfrm>
            <a:prstGeom prst="roundRect">
              <a:avLst>
                <a:gd name="adj" fmla="val 7692"/>
              </a:avLst>
            </a:prstGeom>
            <a:solidFill>
              <a:srgbClr val="F3F4F6"/>
            </a:solidFill>
            <a:ln w="12700">
              <a:solidFill>
                <a:srgbClr val="D6D6D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Text 14"/>
            <p:cNvSpPr/>
            <p:nvPr/>
          </p:nvSpPr>
          <p:spPr>
            <a:xfrm>
              <a:off x="1901952" y="2441448"/>
              <a:ext cx="99669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Flatten</a:t>
              </a:r>
              <a:endParaRPr lang="en-US" sz="1550" dirty="0"/>
            </a:p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27,648</a:t>
              </a:r>
              <a:endParaRPr lang="en-US" sz="15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73552" y="2331720"/>
              <a:ext cx="1024128" cy="713232"/>
            </a:xfrm>
            <a:prstGeom prst="roundRect">
              <a:avLst>
                <a:gd name="adj" fmla="val 7692"/>
              </a:avLst>
            </a:prstGeom>
            <a:solidFill>
              <a:srgbClr val="FFF1E8"/>
            </a:solidFill>
            <a:ln w="12700">
              <a:solidFill>
                <a:srgbClr val="D6D6D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 16"/>
            <p:cNvSpPr/>
            <p:nvPr/>
          </p:nvSpPr>
          <p:spPr>
            <a:xfrm>
              <a:off x="3300984" y="2441448"/>
              <a:ext cx="9692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Dense</a:t>
              </a:r>
              <a:endParaRPr lang="en-US" sz="1550" dirty="0"/>
            </a:p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2048</a:t>
              </a:r>
              <a:endParaRPr lang="en-US" sz="15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663440" y="2331720"/>
              <a:ext cx="1024128" cy="713232"/>
            </a:xfrm>
            <a:prstGeom prst="roundRect">
              <a:avLst>
                <a:gd name="adj" fmla="val 7692"/>
              </a:avLst>
            </a:prstGeom>
            <a:solidFill>
              <a:srgbClr val="FFF1E8"/>
            </a:solidFill>
            <a:ln w="12700">
              <a:solidFill>
                <a:srgbClr val="D6D6D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 18"/>
            <p:cNvSpPr/>
            <p:nvPr/>
          </p:nvSpPr>
          <p:spPr>
            <a:xfrm>
              <a:off x="4690872" y="2441448"/>
              <a:ext cx="9692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Dense</a:t>
              </a:r>
              <a:endParaRPr lang="en-US" sz="1550" dirty="0"/>
            </a:p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1024</a:t>
              </a:r>
              <a:endParaRPr lang="en-US" sz="15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053328" y="2331720"/>
              <a:ext cx="1024128" cy="713232"/>
            </a:xfrm>
            <a:prstGeom prst="roundRect">
              <a:avLst>
                <a:gd name="adj" fmla="val 7692"/>
              </a:avLst>
            </a:prstGeom>
            <a:solidFill>
              <a:srgbClr val="FFF1E8"/>
            </a:solidFill>
            <a:ln w="12700">
              <a:solidFill>
                <a:srgbClr val="D6D6D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Text 20"/>
            <p:cNvSpPr/>
            <p:nvPr/>
          </p:nvSpPr>
          <p:spPr>
            <a:xfrm>
              <a:off x="6080760" y="2441448"/>
              <a:ext cx="9692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Dense</a:t>
              </a:r>
              <a:endParaRPr lang="en-US" sz="1550" dirty="0"/>
            </a:p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512</a:t>
              </a:r>
              <a:endParaRPr lang="en-US" sz="15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443216" y="2331720"/>
              <a:ext cx="1024128" cy="713232"/>
            </a:xfrm>
            <a:prstGeom prst="roundRect">
              <a:avLst>
                <a:gd name="adj" fmla="val 7692"/>
              </a:avLst>
            </a:prstGeom>
            <a:solidFill>
              <a:srgbClr val="F2ECFF"/>
            </a:solidFill>
            <a:ln w="12700">
              <a:solidFill>
                <a:srgbClr val="D6D6D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Text 22"/>
            <p:cNvSpPr/>
            <p:nvPr/>
          </p:nvSpPr>
          <p:spPr>
            <a:xfrm>
              <a:off x="7470648" y="2441448"/>
              <a:ext cx="9692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Dense</a:t>
              </a:r>
              <a:endParaRPr lang="en-US" sz="1550" dirty="0"/>
            </a:p>
            <a:p>
              <a:pPr marL="0" indent="0" algn="ctr">
                <a:buNone/>
              </a:pPr>
              <a:r>
                <a:rPr lang="en-US" sz="155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256</a:t>
              </a:r>
              <a:endParaRPr lang="en-US" sz="15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9144000" y="2331720"/>
              <a:ext cx="1234440" cy="713232"/>
            </a:xfrm>
            <a:prstGeom prst="roundRect">
              <a:avLst>
                <a:gd name="adj" fmla="val 7692"/>
              </a:avLst>
            </a:prstGeom>
            <a:solidFill>
              <a:srgbClr val="EAF8F1"/>
            </a:solidFill>
            <a:ln w="12700">
              <a:solidFill>
                <a:srgbClr val="D6D6D6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Text 24"/>
            <p:cNvSpPr/>
            <p:nvPr/>
          </p:nvSpPr>
          <p:spPr>
            <a:xfrm>
              <a:off x="9171432" y="2441448"/>
              <a:ext cx="117957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Logits</a:t>
              </a:r>
              <a:endParaRPr lang="en-US" sz="1500" dirty="0"/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9 classes</a:t>
              </a:r>
              <a:endParaRPr lang="en-US" sz="15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108960" y="3246120"/>
              <a:ext cx="42976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BatchNorm + ReLU after each hidden layer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6B728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Dropout = 0.4 on early layers, 0.3 before the output</a:t>
              </a:r>
              <a:endParaRPr lang="en-US" sz="14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571500" y="4167377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design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571499" y="4544567"/>
            <a:ext cx="6588425" cy="205740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aggressive augmentation before flattening to expand the small training set.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WeightedRandomSampler and class-weighted cross-entropy both counter label imbalance.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Adam + ReduceLROnPlateau make optimization stable for a large fully connected network.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Trade-off: flattening discards spatial locality, while the model still carries 59.4M trainable parameters.</a:t>
            </a:r>
            <a:endParaRPr lang="en-US" sz="168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6FD12D-C996-28F3-C873-205867651465}"/>
              </a:ext>
            </a:extLst>
          </p:cNvPr>
          <p:cNvGrpSpPr/>
          <p:nvPr/>
        </p:nvGrpSpPr>
        <p:grpSpPr>
          <a:xfrm>
            <a:off x="7517892" y="4127049"/>
            <a:ext cx="3584448" cy="1783080"/>
            <a:chOff x="7680960" y="4681727"/>
            <a:chExt cx="3584448" cy="1783080"/>
          </a:xfrm>
        </p:grpSpPr>
        <p:sp>
          <p:nvSpPr>
            <p:cNvPr id="30" name="Shape 28"/>
            <p:cNvSpPr/>
            <p:nvPr/>
          </p:nvSpPr>
          <p:spPr>
            <a:xfrm>
              <a:off x="7680960" y="4681727"/>
              <a:ext cx="3584448" cy="1783080"/>
            </a:xfrm>
            <a:prstGeom prst="roundRect">
              <a:avLst>
                <a:gd name="adj" fmla="val 2564"/>
              </a:avLst>
            </a:prstGeom>
            <a:solidFill>
              <a:srgbClr val="F9F6F1"/>
            </a:solidFill>
            <a:ln w="12700">
              <a:solidFill>
                <a:srgbClr val="D8D2C8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Text 29"/>
            <p:cNvSpPr/>
            <p:nvPr/>
          </p:nvSpPr>
          <p:spPr>
            <a:xfrm>
              <a:off x="7936992" y="4887467"/>
              <a:ext cx="3072384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Training setup</a:t>
              </a:r>
              <a:endParaRPr lang="en-US" sz="1600" b="1" dirty="0"/>
            </a:p>
            <a:p>
              <a:pPr marL="0" indent="0">
                <a:buNone/>
              </a:pP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15% stratified validation split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Batch size 64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Learning rate 3e-4</a:t>
              </a: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1F293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Up to 100 epochs, patience 20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11247120" cy="0"/>
          </a:xfrm>
          <a:prstGeom prst="line">
            <a:avLst/>
          </a:prstGeom>
          <a:noFill/>
          <a:ln w="12700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Performance metrics and interpretation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0" y="283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Validation-set view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987552"/>
            <a:ext cx="6510528" cy="1965960"/>
          </a:xfrm>
          <a:prstGeom prst="roundRect">
            <a:avLst>
              <a:gd name="adj" fmla="val 2326"/>
            </a:avLst>
          </a:prstGeom>
          <a:solidFill>
            <a:srgbClr val="FFFDFC"/>
          </a:solidFill>
          <a:ln w="12700">
            <a:solidFill>
              <a:srgbClr val="D8D2C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7" name="Image 0" descr="/mnt/data/notebook_assets/cell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29" y="1115568"/>
            <a:ext cx="6089974" cy="1709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" y="3182112"/>
            <a:ext cx="6510528" cy="3172968"/>
          </a:xfrm>
          <a:prstGeom prst="roundRect">
            <a:avLst>
              <a:gd name="adj" fmla="val 1441"/>
            </a:avLst>
          </a:prstGeom>
          <a:solidFill>
            <a:srgbClr val="FFFDFC"/>
          </a:solidFill>
          <a:ln w="12700">
            <a:solidFill>
              <a:srgbClr val="D8D2C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9" name="Image 1" descr="/mnt/data/notebook_assets/cell1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72343"/>
            <a:ext cx="6272784" cy="24016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942005"/>
            <a:ext cx="4370832" cy="5349240"/>
          </a:xfrm>
          <a:prstGeom prst="roundRect">
            <a:avLst>
              <a:gd name="adj" fmla="val 1046"/>
            </a:avLst>
          </a:prstGeom>
          <a:solidFill>
            <a:srgbClr val="FFFDFC"/>
          </a:solidFill>
          <a:ln w="12700">
            <a:solidFill>
              <a:srgbClr val="D8D2C8"/>
            </a:solidFill>
            <a:prstDash val="solid"/>
          </a:ln>
          <a:effectLst>
            <a:outerShdw blurRad="19050" dist="889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7543800" y="12252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Headline metrics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543800" y="15544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validation macro-F1: 0.2132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Accuracy: 0.22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precision / recall: 0.26 / 0.26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543800" y="2739749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Class-level pattern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543800" y="2968349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F1: Fire 0.45, Poison 0.41, Grass 0.37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Weakest F1: Bug 0.00, Normal 0.00, Rock 0.13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precision is high (0.73) but recall is very low (0.11).</a:t>
            </a:r>
            <a:endParaRPr lang="en-US" sz="1680" dirty="0"/>
          </a:p>
        </p:txBody>
      </p:sp>
      <p:sp>
        <p:nvSpPr>
          <p:cNvPr id="15" name="Text 11"/>
          <p:cNvSpPr/>
          <p:nvPr/>
        </p:nvSpPr>
        <p:spPr>
          <a:xfrm>
            <a:off x="7543800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543800" y="4535424"/>
            <a:ext cx="3822192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3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Validation loss keeps falling, but macro-F1 levels off near 0.20.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3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Biggest confusion cluster: Ground, Rock, Fighting, and Grass.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63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baseline separates obvious classes, but flattening limits spatial feature learning that a CNN would preserve.</a:t>
            </a:r>
            <a:endParaRPr lang="en-US" sz="16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592</Words>
  <Application>Microsoft Office PowerPoint</Application>
  <PresentationFormat>Widescreen</PresentationFormat>
  <Paragraphs>73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Pokemon Type Classification — Brief Presentation</dc:title>
  <dc:subject>Pokemon Type Classification</dc:subject>
  <dc:creator>OpenAI</dc:creator>
  <cp:lastModifiedBy>Tiago Figueiredo</cp:lastModifiedBy>
  <cp:revision>2</cp:revision>
  <dcterms:created xsi:type="dcterms:W3CDTF">2026-03-16T17:45:29Z</dcterms:created>
  <dcterms:modified xsi:type="dcterms:W3CDTF">2026-03-16T18:13:52Z</dcterms:modified>
</cp:coreProperties>
</file>